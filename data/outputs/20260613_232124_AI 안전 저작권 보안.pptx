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011680"/>
            <a:ext cx="94457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Pretendard"/>
              </a:rPr>
              <a:t>AI 안전 저작권 보안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3749039"/>
            <a:ext cx="3044952" cy="0"/>
          </a:xfrm>
          <a:prstGeom prst="rect">
            <a:avLst/>
          </a:prstGeom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931920"/>
            <a:ext cx="94457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666666"/>
                </a:solidFill>
                <a:latin typeface="Pretendard"/>
              </a:rPr>
              <a:t>AI를 업무에 본격적으로 쓰기 전에 꼭 알아야 할 '위험한 선'을 정리하는 3주 과정. 환각 대응, 저작권·개인정보, 회사 보안 수칙까지 — 'AI 금지'가 아니라 '안전하게 잘 쓰기'를 목표로 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0152" y="62636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666666"/>
                </a:solidFill>
                <a:latin typeface="Pretendard"/>
              </a:rPr>
              <a:t>AI 교육팀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645920"/>
            <a:ext cx="109728" cy="3200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0" b="1">
                <a:solidFill>
                  <a:srgbClr val="CCCCCC"/>
                </a:solidFill>
                <a:latin typeface="Pretendard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72591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1주차: AI 환각과 사실 검증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"/>
              </a:rPr>
              <a:t>1주차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이번 주차 한눈에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240280"/>
            <a:ext cx="3270504" cy="406908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404872"/>
            <a:ext cx="3270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Pretendard"/>
              </a:rPr>
              <a:t>목표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54680"/>
            <a:ext cx="2813304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환각이 '틀린 내용을 자신 있게 말하는' 작동…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특히 잘 틀리는 영역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AI를 '초안 작성기'로 믿되 '사실 확인기'…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9144" y="39547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666666"/>
                </a:solidFill>
                <a:latin typeface="Pretendard"/>
              </a:rP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4459223" y="2240280"/>
            <a:ext cx="3270504" cy="406908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59223" y="2404872"/>
            <a:ext cx="3270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Pretendard"/>
              </a:rPr>
              <a:t>핵심 개념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7823" y="3154680"/>
            <a:ext cx="2813304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2100" b="0">
                <a:solidFill>
                  <a:srgbClr val="222222"/>
                </a:solidFill>
                <a:latin typeface="Pretendard"/>
              </a:rPr>
              <a:t>·  🛡️ 환각에 속지 않는 5가지 습관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2100" b="0">
                <a:solidFill>
                  <a:srgbClr val="222222"/>
                </a:solidFill>
                <a:latin typeface="Pretendard"/>
              </a:rPr>
              <a:t>·  ⚖️ 신뢰해도 되는 일 vs 꼭 검증할 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9728" y="39547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666666"/>
                </a:solidFill>
                <a:latin typeface="Pretendard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69807" y="2240280"/>
            <a:ext cx="3270504" cy="406908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9807" y="2404872"/>
            <a:ext cx="3270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Pretendard"/>
              </a:rPr>
              <a:t>실습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8408" y="3154680"/>
            <a:ext cx="2813304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AI에게 통계·출처가 든 답을 받아 '출처 알…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'AI에 맡겨도 안전 vs 사람이 검증' 내…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'모르면 모른다고 해' 지시를 붙여 답이 어떻…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"/>
              </a:rPr>
              <a:t>1주차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이번 주차 목표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48840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148840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환각이 '틀린 내용을 자신 있게 말하는' 작동원리상 부작용임을 이해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617976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617976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617976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특히 잘 틀리는 영역(숫자·출처·최신 정보)을 알고 경계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087112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5087112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5087112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AI를 '초안 작성기'로 믿되 '사실 확인기'로는 믿지 않는 기준 세우기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Pretendard"/>
              </a:rPr>
              <a:t>1주차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000000"/>
                </a:solidFill>
                <a:latin typeface="Pretendard"/>
              </a:rPr>
              <a:t>🛡️ 환각에 속지 않는 5가지 습관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20240"/>
          <a:ext cx="11091672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5836"/>
                <a:gridCol w="5545836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300" b="1">
                          <a:solidFill>
                            <a:srgbClr val="FFFFFF"/>
                          </a:solidFill>
                          <a:latin typeface="Pretendard"/>
                        </a:rPr>
                        <a:t>습관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1">
                          <a:solidFill>
                            <a:srgbClr val="FFFFFF"/>
                          </a:solidFill>
                          <a:latin typeface="Pretendard"/>
                        </a:rPr>
                        <a:t>설명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1. 숫자·고유명사는 의심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통계·날짜·이름은 꼭 직접 확인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2. "출처 알려줘" 요청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근거를 대보게 하면 약점이 드러남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3. 원문 직접 확인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AI가 준 링크·논문을 실제로 열어보기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4. 중요한 일은 교차검증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다른 AI·검색으로 한 번 더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5. "모르면 모른다고 해" 지시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추측을 줄이는 프롬프트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Pretendard"/>
              </a:rPr>
              <a:t>1주차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000000"/>
                </a:solidFill>
                <a:latin typeface="Pretendard"/>
              </a:rPr>
              <a:t>⚖️ 신뢰해도 되는 일 vs 꼭 검증할 일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20240"/>
          <a:ext cx="11091672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5836"/>
                <a:gridCol w="5545836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Pretendard"/>
                        </a:rPr>
                        <a:t>AI에 맡겨도 안전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Pretendard"/>
                        </a:rPr>
                        <a:t>반드시 사람이 검증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</a:tr>
              <a:tr h="97155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글 다듬기·요약·번역 초안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통계·수치·인용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7155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아이디어 brainstorming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법률·의료·금융 판단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97155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형식 정리·표 만들기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대외 발표·계약 문구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7155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코드 초안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사실 주장이 담긴 보고서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"/>
              </a:rPr>
              <a:t>1주차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실습 활동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48840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148840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AI에게 통계·출처가 든 답을 받아 '출처 알려줘'로 약점 드러내기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617976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617976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617976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'AI에 맡겨도 안전 vs 사람이 검증' 내 업무를 두 칸으로 분류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087112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5087112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5087112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'모르면 모른다고 해' 지시를 붙여 답이 어떻게 달라지는지 비교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645920"/>
            <a:ext cx="109728" cy="3200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0" b="1">
                <a:solidFill>
                  <a:srgbClr val="CCCCCC"/>
                </a:solidFill>
                <a:latin typeface="Pretendard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72591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2주차: AI 저작권과 개인정보 — 실무에서 지킬 선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"/>
              </a:rPr>
              <a:t>2주차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이번 주차 한눈에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240280"/>
            <a:ext cx="3270504" cy="406908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404872"/>
            <a:ext cx="3270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Pretendard"/>
              </a:rPr>
              <a:t>목표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54680"/>
            <a:ext cx="2813304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AI 결과물 사용 시 '도구 약관 확인이 먼저…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입력 자료의 원본 저작권은 변형해도 사라지지…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AI 채팅창은 '공개된 카페'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9144" y="39547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666666"/>
                </a:solidFill>
                <a:latin typeface="Pretendard"/>
              </a:rP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4459223" y="2240280"/>
            <a:ext cx="3270504" cy="406908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59223" y="2404872"/>
            <a:ext cx="3270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Pretendard"/>
              </a:rPr>
              <a:t>핵심 개념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7823" y="3154680"/>
            <a:ext cx="2813304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2100" b="0">
                <a:solidFill>
                  <a:srgbClr val="222222"/>
                </a:solidFill>
                <a:latin typeface="Pretendard"/>
              </a:rPr>
              <a:t>·  🔒 개인정보·민감정보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9728" y="39547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666666"/>
                </a:solidFill>
                <a:latin typeface="Pretendard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69807" y="2240280"/>
            <a:ext cx="3270504" cy="406908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9807" y="2404872"/>
            <a:ext cx="3270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Pretendard"/>
              </a:rPr>
              <a:t>실습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8408" y="3154680"/>
            <a:ext cx="2813304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내가 쓰는 AI 도구의 이용약관에서 '상업적…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'절대 입력 금지' 4종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고객 정보를 가명 처리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"/>
              </a:rPr>
              <a:t>2주차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이번 주차 목표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48840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148840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AI 결과물 사용 시 '도구 약관 확인이 먼저'임을 이해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617976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617976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617976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입력 자료의 원본 저작권은 변형해도 사라지지 않음을 파악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087112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5087112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5087112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AI 채팅창은 '공개된 카페' — 넣으면 안 되는 정보를 구분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Pretendard"/>
              </a:rPr>
              <a:t>2주차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000000"/>
                </a:solidFill>
                <a:latin typeface="Pretendard"/>
              </a:rPr>
              <a:t>🔒 개인정보·민감정보 — AI에 넣으면 안 되는 것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20240"/>
          <a:ext cx="11091672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5836"/>
                <a:gridCol w="5545836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Pretendard"/>
                        </a:rPr>
                        <a:t>절대 입력 금지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Pretendard"/>
                        </a:rPr>
                        <a:t>예시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</a:tr>
              <a:tr h="97155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고객 개인정보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이름+주민번호, 연락처, 주소 명단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7155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회사 기밀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미공개 재무, 계약서, 내부 전략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97155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로그인·인증 정보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비밀번호, API 키, 카드번호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7155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민감정보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건강·종교·정치 성향 등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"/>
              </a:rPr>
              <a:t>2주차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실습 활동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48840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148840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내가 쓰는 AI 도구의 이용약관에서 '상업적 사용' 조항 찾아보기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617976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617976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617976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'절대 입력 금지' 4종(고객정보·기밀·인증정보·민감정보) 내 사례로 점검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087112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5087112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5087112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고객 정보를 가명 처리('홍길동'→'고객A')해 입력하는 연습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645920"/>
            <a:ext cx="109728" cy="3200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0" b="1">
                <a:solidFill>
                  <a:srgbClr val="CCCCCC"/>
                </a:solidFill>
                <a:latin typeface="Pretendard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72591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3주차: 회사에서 AI 안전하게 쓰기 — 팀 수칙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"/>
              </a:rPr>
              <a:t>3주차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이번 주차 한눈에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240280"/>
            <a:ext cx="3270504" cy="406908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404872"/>
            <a:ext cx="3270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Pretendard"/>
              </a:rPr>
              <a:t>목표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54680"/>
            <a:ext cx="2813304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회사 사용은 개인과 달리 '한 사람 실수=전사…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3단계 신호등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데이터 보안 5수칙을 팀 가이드로 정리하는 법…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9144" y="39547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666666"/>
                </a:solidFill>
                <a:latin typeface="Pretendard"/>
              </a:rP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4459223" y="2240280"/>
            <a:ext cx="3270504" cy="406908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59223" y="2404872"/>
            <a:ext cx="3270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Pretendard"/>
              </a:rPr>
              <a:t>핵심 개념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7823" y="3154680"/>
            <a:ext cx="2813304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2100" b="0">
                <a:solidFill>
                  <a:srgbClr val="222222"/>
                </a:solidFill>
                <a:latin typeface="Pretendard"/>
              </a:rPr>
              <a:t>·  🚦 3단계 신호등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9728" y="39547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666666"/>
                </a:solidFill>
                <a:latin typeface="Pretendard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69807" y="2240280"/>
            <a:ext cx="3270504" cy="406908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9807" y="2404872"/>
            <a:ext cx="3270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Pretendard"/>
              </a:rPr>
              <a:t>실습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8408" y="3154680"/>
            <a:ext cx="2813304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내 업무 상황들을 신호등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보안 5수칙을 우리 팀 상황에 맞게 한 장 가…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'막히면 누구에게 묻는다' 우리 팀 에스컬레이…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"/>
              </a:rPr>
              <a:t>3주차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이번 주차 목표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48840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148840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회사 사용은 개인과 달리 '한 사람 실수=전사 사고'가 될 수 있음을 이해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617976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617976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617976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3단계 신호등(초록·노랑·빨강)으로 'AI 써도 될 일' 판단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087112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5087112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5087112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데이터 보안 5수칙을 팀 가이드로 정리하는 법 익히기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Pretendard"/>
              </a:rPr>
              <a:t>3주차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000000"/>
                </a:solidFill>
                <a:latin typeface="Pretendard"/>
              </a:rPr>
              <a:t>🚦 3단계 신호등 — 이 일에 AI 써도 될까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20240"/>
          <a:ext cx="11091672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Pretendard"/>
                        </a:rPr>
                        <a:t>신호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Pretendard"/>
                        </a:rPr>
                        <a:t>상황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Pretendard"/>
                        </a:rPr>
                        <a:t>예시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</a:tr>
              <a:tr h="129540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🟢 초록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마음껏 써도 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공개 정보 요약, 글 다듬기, 아이디어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29540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🟡 노랑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가공 후 조심해서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고객 데이터는 가명 처리 후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129540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🔴 빨강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절대 금지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기밀·개인정보·인증정보 원본 입력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"/>
              </a:rPr>
              <a:t>3주차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실습 활동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48840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148840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내 업무 상황들을 신호등(초록·노랑·빨강)으로 분류해보기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617976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617976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617976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보안 5수칙을 우리 팀 상황에 맞게 한 장 가이드로 초안 작성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087112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5087112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5087112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'막히면 누구에게 묻는다' 우리 팀 에스컬레이션 경로 정하기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000000"/>
                </a:solidFill>
                <a:latin typeface="Pretendard"/>
              </a:rPr>
              <a:t>커리큘럼 요약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2588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1091672" cy="4663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2800" b="0">
                <a:solidFill>
                  <a:srgbClr val="222222"/>
                </a:solidFill>
                <a:latin typeface="Pretendard"/>
              </a:rPr>
              <a:t>1.  1주차: AI 환각과 사실 검증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2800" b="0">
                <a:solidFill>
                  <a:srgbClr val="222222"/>
                </a:solidFill>
                <a:latin typeface="Pretendard"/>
              </a:rPr>
              <a:t>2.  2주차: AI 저작권과 개인정보 — 실무에서 지킬 선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2800" b="0">
                <a:solidFill>
                  <a:srgbClr val="222222"/>
                </a:solidFill>
                <a:latin typeface="Pretendard"/>
              </a:rPr>
              <a:t>3.  3주차: 회사에서 AI 안전하게 쓰기 — 팀 수칙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6364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Pretendard"/>
              </a:rPr>
              <a:t>출처: AI를 업무에 본격적으로 쓰기 전에 꼭 알아야 할 '위험한 선'을 정리하는 3주 과정. 환각 대응, 저작권·개인정보, 회사 보안 수칙까지 — 'AI 금지'가 아니라 '안전하게 잘 쓰기'를 목표로 한다.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안전 저작권 보안</dc:title>
  <dc:subject/>
  <dc:creator>AI 교육팀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